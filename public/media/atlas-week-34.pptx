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109728"/>
            <a:ext cx="8814816" cy="347472"/>
          </a:xfrm>
          <a:prstGeom prst="rect">
            <a:avLst/>
          </a:prstGeom>
          <a:solidFill>
            <a:srgbClr val="0F7F40"/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atlas week 34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530352"/>
          <a:ext cx="8814816" cy="914400"/>
        </p:xfrm>
        <a:graphic>
          <a:graphicData uri="http://schemas.openxmlformats.org/drawingml/2006/table">
            <a:tbl>
              <a:tblPr/>
              <a:tblGrid>
                <a:gridCol w="1391813"/>
                <a:gridCol w="3015595"/>
                <a:gridCol w="1507797"/>
                <a:gridCol w="1507797"/>
                <a:gridCol w="1391813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Project ID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F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Project Name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F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Start Date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F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End Date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F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Status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F40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NA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Atlas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—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—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At Risk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150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64592" y="810302"/>
            <a:ext cx="8814816" cy="237744"/>
          </a:xfrm>
          <a:prstGeom prst="rect">
            <a:avLst/>
          </a:prstGeom>
          <a:solidFill>
            <a:srgbClr val="0F7F40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164592" y="1048046"/>
            <a:ext cx="8814816" cy="485043"/>
          </a:xfrm>
          <a:prstGeom prst="rect">
            <a:avLst/>
          </a:prstGeom>
          <a:solidFill>
            <a:srgbClr val="FFFFFF"/>
          </a:solidFill>
          <a:ln w="9525">
            <a:solidFill>
              <a:srgbClr val="DBDBD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56032" y="1075478"/>
            <a:ext cx="8631936" cy="43017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Atlas remains amber at week 34. The migration dry run completed in 4hrs 20 against a 6-hour plan, with 2 accounts failing to reconcile. The blocker is Northgate: the API spec requested 3 weeks ago has still not arrived, and if it is not received by the 19th the October window is lost and the work moves to January because of the freeze.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64592" y="1606241"/>
            <a:ext cx="8814816" cy="237744"/>
          </a:xfrm>
          <a:prstGeom prst="rect">
            <a:avLst/>
          </a:prstGeom>
          <a:solidFill>
            <a:srgbClr val="0F7F40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Decisions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64592" y="1843985"/>
            <a:ext cx="8814816" cy="312783"/>
          </a:xfrm>
          <a:prstGeom prst="rect">
            <a:avLst/>
          </a:prstGeom>
          <a:solidFill>
            <a:srgbClr val="FFFFFF"/>
          </a:solidFill>
          <a:ln w="9525">
            <a:solidFill>
              <a:srgbClr val="DBDBD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56032" y="1871417"/>
            <a:ext cx="8631936" cy="25791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6D6D6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64592" y="2229920"/>
            <a:ext cx="4343400" cy="237744"/>
          </a:xfrm>
          <a:prstGeom prst="rect">
            <a:avLst/>
          </a:prstGeom>
          <a:solidFill>
            <a:srgbClr val="0F7F40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Accomplishments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64592" y="2467664"/>
            <a:ext cx="4343400" cy="901153"/>
          </a:xfrm>
          <a:prstGeom prst="rect">
            <a:avLst/>
          </a:prstGeom>
          <a:solidFill>
            <a:srgbClr val="FFFFFF"/>
          </a:solidFill>
          <a:ln w="9525">
            <a:solidFill>
              <a:srgbClr val="DBDBD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56032" y="2495096"/>
            <a:ext cx="4160520" cy="84628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Migration dry run completed on Saturday in 4hrs 20 vs the 6 hours planned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636008" y="2229920"/>
            <a:ext cx="4343400" cy="237744"/>
          </a:xfrm>
          <a:prstGeom prst="rect">
            <a:avLst/>
          </a:prstGeom>
          <a:solidFill>
            <a:srgbClr val="0F7F40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Upcoming Activities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636008" y="2467664"/>
            <a:ext cx="4343400" cy="901153"/>
          </a:xfrm>
          <a:prstGeom prst="rect">
            <a:avLst/>
          </a:prstGeom>
          <a:solidFill>
            <a:srgbClr val="FFFFFF"/>
          </a:solidFill>
          <a:ln w="9525">
            <a:solidFill>
              <a:srgbClr val="DBDBD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27448" y="2495096"/>
            <a:ext cx="4160520" cy="84628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Ken to investigate the 2 accounts that didn't reconcile — probably the fx rounding thing again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 the budget position with Javier (40k over on contractors, under on licences)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Sofia covering standups while Priya is out from the 12th for 2 weeks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64592" y="3441969"/>
            <a:ext cx="8814816" cy="237744"/>
          </a:xfrm>
          <a:prstGeom prst="rect">
            <a:avLst/>
          </a:prstGeom>
          <a:solidFill>
            <a:srgbClr val="0F7F40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Risks / Challenges</a:t>
            </a:r>
            <a:endParaRPr lang="en-US" sz="11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3679713"/>
          <a:ext cx="8814816" cy="914400"/>
        </p:xfrm>
        <a:graphic>
          <a:graphicData uri="http://schemas.openxmlformats.org/drawingml/2006/table">
            <a:tbl>
              <a:tblPr/>
              <a:tblGrid>
                <a:gridCol w="1990442"/>
                <a:gridCol w="1800876"/>
                <a:gridCol w="758264"/>
                <a:gridCol w="853047"/>
                <a:gridCol w="2085225"/>
                <a:gridCol w="132696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Risk / Challenge</a:t>
                      </a:r>
                      <a:endParaRPr lang="en-US" sz="8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5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Impact</a:t>
                      </a:r>
                      <a:endParaRPr lang="en-US" sz="8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5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Raised</a:t>
                      </a:r>
                      <a:endParaRPr lang="en-US" sz="8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5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Owner</a:t>
                      </a:r>
                      <a:endParaRPr lang="en-US" sz="8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5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Mitigation</a:t>
                      </a:r>
                      <a:endParaRPr lang="en-US" sz="8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5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Expected closure</a:t>
                      </a:r>
                      <a:endParaRPr lang="en-US" sz="8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5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Northgate API spec 3 weeks overdue</a:t>
                      </a:r>
                      <a:endParaRPr lang="en-US" sz="8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If we don't have it by the 19th the October window is gone and we're into January because of the freeze</a:t>
                      </a:r>
                      <a:endParaRPr lang="en-US" sz="8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—</a:t>
                      </a:r>
                      <a:endParaRPr lang="en-US" sz="8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Marcus Webb</a:t>
                      </a:r>
                      <a:endParaRPr lang="en-US" sz="8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Chased twice; no date given</a:t>
                      </a:r>
                      <a:endParaRPr lang="en-US" sz="8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the 19th</a:t>
                      </a:r>
                      <a:endParaRPr lang="en-US" sz="8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4"/>
          <p:cNvSpPr/>
          <p:nvPr/>
        </p:nvSpPr>
        <p:spPr>
          <a:xfrm>
            <a:off x="164592" y="483260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D6D6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Internal</a:t>
            </a:r>
            <a:endParaRPr lang="en-US" sz="700" dirty="0"/>
          </a:p>
        </p:txBody>
      </p:sp>
      <p:sp>
        <p:nvSpPr>
          <p:cNvPr id="19" name="Text 15"/>
          <p:cNvSpPr/>
          <p:nvPr/>
        </p:nvSpPr>
        <p:spPr>
          <a:xfrm>
            <a:off x="4114800" y="4832604"/>
            <a:ext cx="658368" cy="201168"/>
          </a:xfrm>
          <a:prstGeom prst="rect">
            <a:avLst/>
          </a:prstGeom>
          <a:solidFill>
            <a:srgbClr val="6D6D6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Started</a:t>
            </a:r>
            <a:endParaRPr lang="en-US" sz="700" dirty="0"/>
          </a:p>
        </p:txBody>
      </p:sp>
      <p:sp>
        <p:nvSpPr>
          <p:cNvPr id="20" name="Text 16"/>
          <p:cNvSpPr/>
          <p:nvPr/>
        </p:nvSpPr>
        <p:spPr>
          <a:xfrm>
            <a:off x="4809744" y="4832604"/>
            <a:ext cx="658368" cy="201168"/>
          </a:xfrm>
          <a:prstGeom prst="rect">
            <a:avLst/>
          </a:prstGeom>
          <a:solidFill>
            <a:srgbClr val="0F7F4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 Track</a:t>
            </a:r>
            <a:endParaRPr lang="en-US" sz="700" dirty="0"/>
          </a:p>
        </p:txBody>
      </p:sp>
      <p:sp>
        <p:nvSpPr>
          <p:cNvPr id="21" name="Text 17"/>
          <p:cNvSpPr/>
          <p:nvPr/>
        </p:nvSpPr>
        <p:spPr>
          <a:xfrm>
            <a:off x="5504688" y="4832604"/>
            <a:ext cx="658368" cy="201168"/>
          </a:xfrm>
          <a:prstGeom prst="rect">
            <a:avLst/>
          </a:prstGeom>
          <a:solidFill>
            <a:srgbClr val="00855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Progress</a:t>
            </a:r>
            <a:endParaRPr lang="en-US" sz="700" dirty="0"/>
          </a:p>
        </p:txBody>
      </p:sp>
      <p:sp>
        <p:nvSpPr>
          <p:cNvPr id="22" name="Text 18"/>
          <p:cNvSpPr/>
          <p:nvPr/>
        </p:nvSpPr>
        <p:spPr>
          <a:xfrm>
            <a:off x="6199632" y="4832604"/>
            <a:ext cx="658368" cy="201168"/>
          </a:xfrm>
          <a:prstGeom prst="rect">
            <a:avLst/>
          </a:prstGeom>
          <a:solidFill>
            <a:srgbClr val="FBC15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 Risk</a:t>
            </a:r>
            <a:endParaRPr lang="en-US" sz="700" dirty="0"/>
          </a:p>
        </p:txBody>
      </p:sp>
      <p:sp>
        <p:nvSpPr>
          <p:cNvPr id="23" name="Text 19"/>
          <p:cNvSpPr/>
          <p:nvPr/>
        </p:nvSpPr>
        <p:spPr>
          <a:xfrm>
            <a:off x="6894576" y="4832604"/>
            <a:ext cx="658368" cy="201168"/>
          </a:xfrm>
          <a:prstGeom prst="rect">
            <a:avLst/>
          </a:prstGeom>
          <a:solidFill>
            <a:srgbClr val="EE272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Delayed</a:t>
            </a:r>
            <a:endParaRPr lang="en-US" sz="700" dirty="0"/>
          </a:p>
        </p:txBody>
      </p:sp>
      <p:sp>
        <p:nvSpPr>
          <p:cNvPr id="24" name="Text 20"/>
          <p:cNvSpPr/>
          <p:nvPr/>
        </p:nvSpPr>
        <p:spPr>
          <a:xfrm>
            <a:off x="7589520" y="4832604"/>
            <a:ext cx="658368" cy="201168"/>
          </a:xfrm>
          <a:prstGeom prst="rect">
            <a:avLst/>
          </a:prstGeom>
          <a:solidFill>
            <a:srgbClr val="00497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Completed</a:t>
            </a:r>
            <a:endParaRPr lang="en-US" sz="700" dirty="0"/>
          </a:p>
        </p:txBody>
      </p:sp>
      <p:sp>
        <p:nvSpPr>
          <p:cNvPr id="25" name="Text 21"/>
          <p:cNvSpPr/>
          <p:nvPr/>
        </p:nvSpPr>
        <p:spPr>
          <a:xfrm>
            <a:off x="8284464" y="4832604"/>
            <a:ext cx="658368" cy="201168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Closed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109728"/>
            <a:ext cx="8814816" cy="347472"/>
          </a:xfrm>
          <a:prstGeom prst="rect">
            <a:avLst/>
          </a:prstGeom>
          <a:solidFill>
            <a:srgbClr val="0F7F40"/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atlas week 34 — Key Risks / Challenges (continued)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64592" y="530352"/>
            <a:ext cx="8814816" cy="237744"/>
          </a:xfrm>
          <a:prstGeom prst="rect">
            <a:avLst/>
          </a:prstGeom>
          <a:solidFill>
            <a:srgbClr val="0F7F40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Risks / Challenges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768096"/>
          <a:ext cx="8814816" cy="914400"/>
        </p:xfrm>
        <a:graphic>
          <a:graphicData uri="http://schemas.openxmlformats.org/drawingml/2006/table">
            <a:tbl>
              <a:tblPr/>
              <a:tblGrid>
                <a:gridCol w="1990442"/>
                <a:gridCol w="1800876"/>
                <a:gridCol w="758264"/>
                <a:gridCol w="853047"/>
                <a:gridCol w="2085225"/>
                <a:gridCol w="132696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Risk / Challenge</a:t>
                      </a:r>
                      <a:endParaRPr lang="en-US" sz="8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5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Impact</a:t>
                      </a:r>
                      <a:endParaRPr lang="en-US" sz="8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5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Raised</a:t>
                      </a:r>
                      <a:endParaRPr lang="en-US" sz="8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5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Owner</a:t>
                      </a:r>
                      <a:endParaRPr lang="en-US" sz="8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5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Mitigation</a:t>
                      </a:r>
                      <a:endParaRPr lang="en-US" sz="8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5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Expected closure</a:t>
                      </a:r>
                      <a:endParaRPr lang="en-US" sz="8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5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2 accounts didn't reconcile in the dry run</a:t>
                      </a:r>
                      <a:endParaRPr lang="en-US" sz="8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—</a:t>
                      </a:r>
                      <a:endParaRPr lang="en-US" sz="8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—</a:t>
                      </a:r>
                      <a:endParaRPr lang="en-US" sz="8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Ken Osei</a:t>
                      </a:r>
                      <a:endParaRPr lang="en-US" sz="8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Ken looking, probably the fx rounding thing again</a:t>
                      </a:r>
                      <a:endParaRPr lang="en-US" sz="8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—</a:t>
                      </a:r>
                      <a:endParaRPr lang="en-US" sz="8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64592" y="4832604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6D6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atlas week 34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rebuchet M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atlas week 34</dc:title>
  <dc:subject>PptxGenJS Presentation</dc:subject>
  <dc:creator>PptxGenJS</dc:creator>
  <cp:lastModifiedBy>PptxGenJS</cp:lastModifiedBy>
  <cp:revision>1</cp:revision>
  <dcterms:created xsi:type="dcterms:W3CDTF">2026-09-10T19:35:41Z</dcterms:created>
  <dcterms:modified xsi:type="dcterms:W3CDTF">2026-09-10T19:35:41Z</dcterms:modified>
</cp:coreProperties>
</file>